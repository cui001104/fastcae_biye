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总体进展：从自动化分析到代理模型辅助智能优化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46520" y="777240"/>
            <a:ext cx="2514600" cy="5897880"/>
          </a:xfrm>
          <a:prstGeom prst="roundRect">
            <a:avLst/>
          </a:prstGeom>
          <a:solidFill>
            <a:srgbClr val="D6EAF8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/>
          <a:lstStyle/>
          <a:p>
            <a:pPr algn="l">
              <a:defRPr sz="1000" b="1">
                <a:solidFill>
                  <a:srgbClr val="1976D2"/>
                </a:solidFill>
                <a:latin typeface="Microsoft YaHei"/>
              </a:defRPr>
            </a:pPr>
            <a:r>
              <a:t>第一阶段</a:t>
            </a:r>
          </a:p>
          <a:p>
            <a:pPr algn="l">
              <a:defRPr sz="800" b="0">
                <a:solidFill>
                  <a:srgbClr val="1E1E1E"/>
                </a:solidFill>
                <a:latin typeface="Microsoft YaHei"/>
              </a:defRPr>
            </a:pPr>
            <a:r>
              <a:t>参数设计 → 自动建模 → Gmsh 网格</a:t>
            </a:r>
            <a:br/>
            <a:r>
              <a:t>→ CCX 求解 → 结果解析</a:t>
            </a:r>
            <a:br/>
            <a:r>
              <a:t>→ NSGA-II → SQLite 样本库</a:t>
            </a:r>
          </a:p>
          <a:p>
            <a:pPr algn="l">
              <a:spcBef>
                <a:spcPts val="800"/>
              </a:spcBef>
              <a:defRPr sz="1000" b="1">
                <a:solidFill>
                  <a:srgbClr val="1976D2"/>
                </a:solidFill>
                <a:latin typeface="Microsoft YaHei"/>
              </a:defRPr>
            </a:pPr>
            <a:r>
              <a:t>第二阶段（代码）</a:t>
            </a:r>
          </a:p>
          <a:p>
            <a:pPr algn="l">
              <a:defRPr sz="800" b="0">
                <a:solidFill>
                  <a:srgbClr val="1E1E1E"/>
                </a:solidFill>
                <a:latin typeface="Microsoft YaHei"/>
              </a:defRPr>
            </a:pPr>
            <a:r>
              <a:t>baseCaseHash 筛样本 → RBF 训练</a:t>
            </a:r>
            <a:br/>
            <a:r>
              <a:t>→ 代理 NSGA-II → 稀疏加点</a:t>
            </a:r>
            <a:br/>
            <a:r>
              <a:t>→ CCX 验证 → RMAE/HV 导出 CSV</a:t>
            </a:r>
            <a:br/>
            <a:r>
              <a:t>→ 未达标则重训 RBF</a:t>
            </a:r>
          </a:p>
          <a:p>
            <a:pPr algn="l">
              <a:spcBef>
                <a:spcPts val="800"/>
              </a:spcBef>
              <a:defRPr sz="1000" b="1">
                <a:solidFill>
                  <a:srgbClr val="1976D2"/>
                </a:solidFill>
                <a:latin typeface="Microsoft YaHei"/>
              </a:defRPr>
            </a:pPr>
            <a:r>
              <a:t>SQLite 样本库</a:t>
            </a:r>
          </a:p>
          <a:p>
            <a:pPr algn="l">
              <a:defRPr sz="800" b="0">
                <a:solidFill>
                  <a:srgbClr val="1E1E1E"/>
                </a:solidFill>
                <a:latin typeface="Microsoft YaHei"/>
              </a:defRPr>
            </a:pPr>
            <a:r>
              <a:t>global() + runSession()</a:t>
            </a:r>
            <a:br/>
            <a:r>
              <a:t>baseCaseHash / designHash</a:t>
            </a:r>
            <a:br/>
            <a:r>
              <a:t>verified_by_ccx = 1</a:t>
            </a:r>
          </a:p>
          <a:p>
            <a:pPr algn="l">
              <a:spcBef>
                <a:spcPts val="800"/>
              </a:spcBef>
              <a:defRPr sz="1000" b="1">
                <a:solidFill>
                  <a:srgbClr val="1976D2"/>
                </a:solidFill>
                <a:latin typeface="Microsoft YaHei"/>
              </a:defRPr>
            </a:pPr>
            <a:r>
              <a:t>运行目录 CSV</a:t>
            </a:r>
          </a:p>
          <a:p>
            <a:pPr algn="l">
              <a:defRPr sz="800" b="0">
                <a:solidFill>
                  <a:srgbClr val="1E1E1E"/>
                </a:solidFill>
                <a:latin typeface="Microsoft YaHei"/>
              </a:defRPr>
            </a:pPr>
            <a:r>
              <a:t>surrogate_metrics.csv</a:t>
            </a:r>
            <a:br/>
            <a:r>
              <a:t>  PredHV / PredPareto</a:t>
            </a:r>
            <a:br/>
            <a:r>
              <a:t>ccx_metrics.csv</a:t>
            </a:r>
            <a:br/>
            <a:r>
              <a:t>  CCXSamples / CCXHV</a:t>
            </a:r>
            <a:br/>
            <a:r>
              <a:t>surrogate_rmae.csv</a:t>
            </a:r>
            <a:br/>
            <a:r>
              <a:t>  RMAE_σ / RMAE_u</a:t>
            </a:r>
          </a:p>
          <a:p>
            <a:pPr algn="l">
              <a:spcBef>
                <a:spcPts val="800"/>
              </a:spcBef>
              <a:defRPr sz="1000" b="1">
                <a:solidFill>
                  <a:srgbClr val="1976D2"/>
                </a:solidFill>
                <a:latin typeface="Microsoft YaHei"/>
              </a:defRPr>
            </a:pPr>
            <a:r>
              <a:t>求解端</a:t>
            </a:r>
          </a:p>
          <a:p>
            <a:pPr algn="l">
              <a:defRPr sz="800" b="0">
                <a:solidFill>
                  <a:srgbClr val="1E1E1E"/>
                </a:solidFill>
                <a:latin typeface="Microsoft YaHei"/>
              </a:defRPr>
            </a:pPr>
            <a:r>
              <a:t>接触 / 刚体 / 位移驱动</a:t>
            </a:r>
            <a:br/>
            <a:r>
              <a:t>Step-2 扭矩映射 CLOAD</a:t>
            </a:r>
          </a:p>
          <a:p>
            <a:pPr algn="l">
              <a:spcBef>
                <a:spcPts val="800"/>
              </a:spcBef>
              <a:defRPr sz="1000" b="1">
                <a:solidFill>
                  <a:srgbClr val="1976D2"/>
                </a:solidFill>
                <a:latin typeface="Microsoft YaHei"/>
              </a:defRPr>
            </a:pPr>
            <a:r>
              <a:t>网格端</a:t>
            </a:r>
          </a:p>
          <a:p>
            <a:pPr algn="l">
              <a:defRPr sz="800" b="0">
                <a:solidFill>
                  <a:srgbClr val="1E1E1E"/>
                </a:solidFill>
                <a:latin typeface="Microsoft YaHei"/>
              </a:defRPr>
            </a:pPr>
            <a:r>
              <a:t>齿根加密 / 集合丰富化</a:t>
            </a:r>
            <a:br/>
            <a:r>
              <a:t>接触面校验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49808"/>
            <a:ext cx="8732520" cy="347472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>
              <a:defRPr sz="1200" b="1">
                <a:solidFill>
                  <a:srgbClr val="1976D2"/>
                </a:solidFill>
                <a:latin typeface="Microsoft YaHei"/>
              </a:defRPr>
            </a:pPr>
            <a:r>
              <a:t>第一阶段 — 自动闭环</a:t>
            </a:r>
          </a:p>
          <a:p>
            <a:pPr algn="l"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已完成：自动化建模到优化闭环（GearAutoOptManager::start）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" y="1170432"/>
            <a:ext cx="74980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1E1E"/>
                </a:solidFill>
                <a:latin typeface="Microsoft YaHei"/>
              </a:defRPr>
            </a:pPr>
            <a:r>
              <a:t>参数设计</a:t>
            </a:r>
          </a:p>
          <a:p>
            <a:pPr algn="ctr"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UI 工况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0704" y="1170432"/>
            <a:ext cx="74980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1E1E"/>
                </a:solidFill>
                <a:latin typeface="Microsoft YaHei"/>
              </a:defRPr>
            </a:pPr>
            <a:r>
              <a:t>自动建模</a:t>
            </a:r>
          </a:p>
          <a:p>
            <a:pPr algn="ctr"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OCC 齿轮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50976" y="1499616.0"/>
            <a:ext cx="109728" cy="0.0"/>
          </a:xfrm>
          <a:prstGeom prst="line">
            <a:avLst/>
          </a:prstGeom>
          <a:ln w="19050">
            <a:solidFill>
              <a:srgbClr val="64B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920240" y="1170432"/>
            <a:ext cx="74980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1E1E"/>
                </a:solidFill>
                <a:latin typeface="Microsoft YaHei"/>
              </a:defRPr>
            </a:pPr>
            <a:r>
              <a:t>网格生成</a:t>
            </a:r>
          </a:p>
          <a:p>
            <a:pPr algn="ctr"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Gmsh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10512" y="1499616.0"/>
            <a:ext cx="109728" cy="0.0"/>
          </a:xfrm>
          <a:prstGeom prst="line">
            <a:avLst/>
          </a:prstGeom>
          <a:ln w="19050">
            <a:solidFill>
              <a:srgbClr val="64B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79776" y="1170432"/>
            <a:ext cx="74980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1E1E"/>
                </a:solidFill>
                <a:latin typeface="Microsoft YaHei"/>
              </a:defRPr>
            </a:pPr>
            <a:r>
              <a:t>CCX 求解</a:t>
            </a:r>
          </a:p>
          <a:p>
            <a:pPr algn="ctr"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CalculiX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70048" y="1499616.0"/>
            <a:ext cx="109728" cy="0.0"/>
          </a:xfrm>
          <a:prstGeom prst="line">
            <a:avLst/>
          </a:prstGeom>
          <a:ln w="19050">
            <a:solidFill>
              <a:srgbClr val="64B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39312" y="1170432"/>
            <a:ext cx="74980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1E1E"/>
                </a:solidFill>
                <a:latin typeface="Microsoft YaHei"/>
              </a:defRPr>
            </a:pPr>
            <a:r>
              <a:t>结果解析</a:t>
            </a:r>
          </a:p>
          <a:p>
            <a:pPr algn="ctr"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FRD/DAT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29584" y="1499616.0"/>
            <a:ext cx="109728" cy="0.0"/>
          </a:xfrm>
          <a:prstGeom prst="line">
            <a:avLst/>
          </a:prstGeom>
          <a:ln w="19050">
            <a:solidFill>
              <a:srgbClr val="64B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98848" y="1170432"/>
            <a:ext cx="74980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1E1E"/>
                </a:solidFill>
                <a:latin typeface="Microsoft YaHei"/>
              </a:defRPr>
            </a:pPr>
            <a:r>
              <a:t>NSGA-II</a:t>
            </a:r>
          </a:p>
          <a:p>
            <a:pPr algn="ctr"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全 CCX 评估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89120" y="1499616.0"/>
            <a:ext cx="109728" cy="0.0"/>
          </a:xfrm>
          <a:prstGeom prst="line">
            <a:avLst/>
          </a:prstGeom>
          <a:ln w="19050">
            <a:solidFill>
              <a:srgbClr val="64B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358384" y="1170432"/>
            <a:ext cx="74980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1E1E"/>
                </a:solidFill>
                <a:latin typeface="Microsoft YaHei"/>
              </a:defRPr>
            </a:pPr>
            <a:r>
              <a:t>SQLite</a:t>
            </a:r>
          </a:p>
          <a:p>
            <a:pPr algn="ctr"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样本库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48656" y="1499616.0"/>
            <a:ext cx="109728" cy="0.0"/>
          </a:xfrm>
          <a:prstGeom prst="line">
            <a:avLst/>
          </a:prstGeom>
          <a:ln w="19050">
            <a:solidFill>
              <a:srgbClr val="64B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76072.0" y="1828800"/>
            <a:ext cx="5157216.0" cy="0"/>
          </a:xfrm>
          <a:prstGeom prst="line">
            <a:avLst/>
          </a:prstGeom>
          <a:ln w="19050">
            <a:solidFill>
              <a:srgbClr val="64B5F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37160" y="1993392"/>
            <a:ext cx="8732520" cy="38404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>
              <a:defRPr sz="1200" b="1">
                <a:solidFill>
                  <a:srgbClr val="1976D2"/>
                </a:solidFill>
                <a:latin typeface="Microsoft YaHei"/>
              </a:defRPr>
            </a:pPr>
            <a:r>
              <a:t>第二阶段 — 智能闭环</a:t>
            </a:r>
          </a:p>
          <a:p>
            <a:pPr algn="l"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新增：startSurrogateAssisted() — 同 baseCaseHash 样本 + 代理预测 + CCX 验证 + CSV 指标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4592" y="2487168"/>
            <a:ext cx="65836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E1E1E"/>
                </a:solidFill>
                <a:latin typeface="Microsoft YaHei"/>
              </a:defRPr>
            </a:pPr>
            <a:r>
              <a:t>UI 勾选</a:t>
            </a:r>
          </a:p>
          <a:p>
            <a:pPr algn="ctr"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代理辅助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2487168"/>
            <a:ext cx="65836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E1E1E"/>
                </a:solidFill>
                <a:latin typeface="Microsoft YaHei"/>
              </a:defRPr>
            </a:pPr>
            <a:r>
              <a:t>SQLite</a:t>
            </a:r>
          </a:p>
          <a:p>
            <a:pPr algn="ctr"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baseCase</a:t>
            </a:r>
            <a:br/>
            <a:r>
              <a:t>筛选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" y="2843784.0"/>
            <a:ext cx="73152" cy="0.0"/>
          </a:xfrm>
          <a:prstGeom prst="line">
            <a:avLst/>
          </a:prstGeom>
          <a:ln w="19050">
            <a:solidFill>
              <a:srgbClr val="64B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627632" y="2487168"/>
            <a:ext cx="65836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E1E1E"/>
                </a:solidFill>
                <a:latin typeface="Microsoft YaHei"/>
              </a:defRPr>
            </a:pPr>
            <a:r>
              <a:t>样本检查</a:t>
            </a:r>
          </a:p>
          <a:p>
            <a:pPr algn="ctr"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≥25?</a:t>
            </a:r>
            <a:br/>
            <a:r>
              <a:t>LHS补样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54480" y="2843784.0"/>
            <a:ext cx="73152" cy="0.0"/>
          </a:xfrm>
          <a:prstGeom prst="line">
            <a:avLst/>
          </a:prstGeom>
          <a:ln w="19050">
            <a:solidFill>
              <a:srgbClr val="64B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359152" y="2487168"/>
            <a:ext cx="65836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E1E1E"/>
                </a:solidFill>
                <a:latin typeface="Microsoft YaHei"/>
              </a:defRPr>
            </a:pPr>
            <a:r>
              <a:t>RBF 训练</a:t>
            </a:r>
          </a:p>
          <a:p>
            <a:pPr algn="ctr"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8D 输入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86000" y="2843784.0"/>
            <a:ext cx="73152" cy="0.0"/>
          </a:xfrm>
          <a:prstGeom prst="line">
            <a:avLst/>
          </a:prstGeom>
          <a:ln w="19050">
            <a:solidFill>
              <a:srgbClr val="64B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090672" y="2487168"/>
            <a:ext cx="65836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E1E1E"/>
                </a:solidFill>
                <a:latin typeface="Microsoft YaHei"/>
              </a:defRPr>
            </a:pPr>
            <a:r>
              <a:t>代理</a:t>
            </a:r>
            <a:br/>
            <a:r>
              <a:t>NSGA-II</a:t>
            </a:r>
          </a:p>
          <a:p>
            <a:pPr algn="ctr"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RBF 评估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017520" y="2843784.0"/>
            <a:ext cx="73152" cy="0.0"/>
          </a:xfrm>
          <a:prstGeom prst="line">
            <a:avLst/>
          </a:prstGeom>
          <a:ln w="19050">
            <a:solidFill>
              <a:srgbClr val="64B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822192" y="2487168"/>
            <a:ext cx="658368" cy="71323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E1E1E"/>
                </a:solidFill>
                <a:latin typeface="Microsoft YaHei"/>
              </a:defRPr>
            </a:pPr>
            <a:r>
              <a:t>surrogate_</a:t>
            </a:r>
            <a:br/>
            <a:r>
              <a:t>metrics</a:t>
            </a:r>
          </a:p>
          <a:p>
            <a:pPr algn="ctr"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PredHV</a:t>
            </a:r>
            <a:br/>
            <a:r>
              <a:t>PredPareto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749040" y="2843784.0"/>
            <a:ext cx="73152" cy="0.0"/>
          </a:xfrm>
          <a:prstGeom prst="line">
            <a:avLst/>
          </a:prstGeom>
          <a:ln w="19050">
            <a:solidFill>
              <a:srgbClr val="64B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553712" y="2487168"/>
            <a:ext cx="65836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E1E1E"/>
                </a:solidFill>
                <a:latin typeface="Microsoft YaHei"/>
              </a:defRPr>
            </a:pPr>
            <a:r>
              <a:t>稀疏加点</a:t>
            </a:r>
          </a:p>
          <a:p>
            <a:pPr algn="ctr"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Infill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480560" y="2843784.0"/>
            <a:ext cx="73152" cy="0.0"/>
          </a:xfrm>
          <a:prstGeom prst="line">
            <a:avLst/>
          </a:prstGeom>
          <a:ln w="19050">
            <a:solidFill>
              <a:srgbClr val="64B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285232" y="2487168"/>
            <a:ext cx="65836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E1E1E"/>
                </a:solidFill>
                <a:latin typeface="Microsoft YaHei"/>
              </a:defRPr>
            </a:pPr>
            <a:r>
              <a:t>CCX 验证</a:t>
            </a:r>
          </a:p>
          <a:p>
            <a:pPr algn="ctr"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infill 点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212080" y="2843784.0"/>
            <a:ext cx="73152" cy="0.0"/>
          </a:xfrm>
          <a:prstGeom prst="line">
            <a:avLst/>
          </a:prstGeom>
          <a:ln w="19050">
            <a:solidFill>
              <a:srgbClr val="64B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016752" y="2487168"/>
            <a:ext cx="658368" cy="71323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E1E1E"/>
                </a:solidFill>
                <a:latin typeface="Microsoft YaHei"/>
              </a:defRPr>
            </a:pPr>
            <a:r>
              <a:t>surrogate_</a:t>
            </a:r>
            <a:br/>
            <a:r>
              <a:t>rmae</a:t>
            </a:r>
          </a:p>
          <a:p>
            <a:pPr algn="ctr"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RMAE_σ/u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43600" y="2843784.0"/>
            <a:ext cx="73152" cy="0.0"/>
          </a:xfrm>
          <a:prstGeom prst="line">
            <a:avLst/>
          </a:prstGeom>
          <a:ln w="19050">
            <a:solidFill>
              <a:srgbClr val="64B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748272" y="2487168"/>
            <a:ext cx="658368" cy="71323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E1E1E"/>
                </a:solidFill>
                <a:latin typeface="Microsoft YaHei"/>
              </a:defRPr>
            </a:pPr>
            <a:r>
              <a:t>ccx_</a:t>
            </a:r>
            <a:br/>
            <a:r>
              <a:t>metrics</a:t>
            </a:r>
          </a:p>
          <a:p>
            <a:pPr algn="ctr"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CCXHV</a:t>
            </a:r>
            <a:br/>
            <a:r>
              <a:t>样本数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675120" y="2843784.0"/>
            <a:ext cx="73152" cy="0.0"/>
          </a:xfrm>
          <a:prstGeom prst="line">
            <a:avLst/>
          </a:prstGeom>
          <a:ln w="19050">
            <a:solidFill>
              <a:srgbClr val="64B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01168" y="3310128"/>
            <a:ext cx="6080760" cy="502920"/>
          </a:xfrm>
          <a:prstGeom prst="roundRect">
            <a:avLst/>
          </a:prstGeom>
          <a:solidFill>
            <a:srgbClr val="C8E6C9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E1E1E"/>
                </a:solidFill>
                <a:latin typeface="Microsoft YaHei"/>
              </a:defRPr>
            </a:pPr>
            <a:r>
              <a:t>循环：RMAE_σ &amp; RMAE_u &lt; 5% 或达 maxGenerations → 停止；否则 CCX 新样本写入 SQLite → 重训 RBF → 下一轮。 最终 Pareto 仅取 status=Done 的 CCX 真值。</a:t>
            </a:r>
          </a:p>
        </p:txBody>
      </p:sp>
      <p:cxnSp>
        <p:nvCxnSpPr>
          <p:cNvPr id="40" name="Connector 39"/>
          <p:cNvCxnSpPr/>
          <p:nvPr/>
        </p:nvCxnSpPr>
        <p:spPr>
          <a:xfrm flipH="1" flipV="1">
            <a:off x="1225296.0" y="2441448"/>
            <a:ext cx="4389120.0" cy="45720"/>
          </a:xfrm>
          <a:prstGeom prst="line">
            <a:avLst/>
          </a:prstGeom>
          <a:ln w="19050">
            <a:solidFill>
              <a:srgbClr val="64B5F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2688336.0" y="3200400"/>
            <a:ext cx="3657600.0" cy="73152"/>
          </a:xfrm>
          <a:prstGeom prst="line">
            <a:avLst/>
          </a:prstGeom>
          <a:ln w="19050">
            <a:solidFill>
              <a:srgbClr val="64B5F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440680" y="3977639"/>
            <a:ext cx="960120" cy="502920"/>
          </a:xfrm>
          <a:prstGeom prst="ellipse">
            <a:avLst/>
          </a:prstGeom>
          <a:solidFill>
            <a:srgbClr val="A5D6A7"/>
          </a:solidFill>
          <a:ln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E1E1E"/>
                </a:solidFill>
                <a:latin typeface="Microsoft YaHei"/>
              </a:defRPr>
            </a:pPr>
            <a:r>
              <a:t>误差反馈</a:t>
            </a:r>
            <a:br/>
            <a:r>
              <a:t>RMAE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" y="4617720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■ 绿色框 = 运行目录 CSV（不入 SQLite）    ■ 虚线 = 样本/模型更新回路    ■ 实线 = 单轮主流程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